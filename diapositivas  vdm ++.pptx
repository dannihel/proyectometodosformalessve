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1" autoAdjust="0"/>
    <p:restoredTop sz="94660"/>
  </p:normalViewPr>
  <p:slideViewPr>
    <p:cSldViewPr snapToGrid="0">
      <p:cViewPr>
        <p:scale>
          <a:sx n="92" d="100"/>
          <a:sy n="92" d="100"/>
        </p:scale>
        <p:origin x="288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1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6235-F2BC-4C3F-850A-8D73874FFA4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471D1-42BF-441F-8BDA-0E6C1047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1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1"/>
          <a:stretch/>
        </p:blipFill>
        <p:spPr>
          <a:xfrm>
            <a:off x="1" y="-1"/>
            <a:ext cx="7677150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084388"/>
            <a:ext cx="5762625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564063"/>
            <a:ext cx="536257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536" y="5969481"/>
            <a:ext cx="2719876" cy="452179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11110824" y="0"/>
            <a:ext cx="1081176" cy="63835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25" y="175427"/>
            <a:ext cx="521986" cy="30405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198" y="4471988"/>
            <a:ext cx="412907" cy="78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7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4"/>
          <a:stretch/>
        </p:blipFill>
        <p:spPr>
          <a:xfrm>
            <a:off x="4618007" y="-1"/>
            <a:ext cx="7572375" cy="688830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95026" y="1598703"/>
            <a:ext cx="5858774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95026" y="3481898"/>
            <a:ext cx="5858774" cy="24875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56" y="5969481"/>
            <a:ext cx="2719876" cy="452179"/>
          </a:xfrm>
          <a:prstGeom prst="rect">
            <a:avLst/>
          </a:prstGeom>
        </p:spPr>
      </p:pic>
      <p:sp>
        <p:nvSpPr>
          <p:cNvPr id="22" name="Rectángulo 21"/>
          <p:cNvSpPr/>
          <p:nvPr userDrawn="1"/>
        </p:nvSpPr>
        <p:spPr>
          <a:xfrm>
            <a:off x="11110824" y="0"/>
            <a:ext cx="1081176" cy="63835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25" y="175427"/>
            <a:ext cx="521986" cy="304058"/>
          </a:xfrm>
          <a:prstGeom prst="rect">
            <a:avLst/>
          </a:prstGeom>
        </p:spPr>
      </p:pic>
      <p:sp>
        <p:nvSpPr>
          <p:cNvPr id="18" name="Rectángulo 17"/>
          <p:cNvSpPr/>
          <p:nvPr userDrawn="1"/>
        </p:nvSpPr>
        <p:spPr>
          <a:xfrm>
            <a:off x="4077420" y="3312543"/>
            <a:ext cx="1081176" cy="3545457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/>
          <p:cNvSpPr/>
          <p:nvPr userDrawn="1"/>
        </p:nvSpPr>
        <p:spPr>
          <a:xfrm>
            <a:off x="0" y="-1"/>
            <a:ext cx="422694" cy="1598704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554" y="5633008"/>
            <a:ext cx="412907" cy="78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82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47"/>
          <a:stretch/>
        </p:blipFill>
        <p:spPr>
          <a:xfrm>
            <a:off x="3766" y="0"/>
            <a:ext cx="754956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7455" y="1598703"/>
            <a:ext cx="5858774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7455" y="3481898"/>
            <a:ext cx="5858774" cy="24875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549" y="5969481"/>
            <a:ext cx="2719876" cy="452179"/>
          </a:xfrm>
          <a:prstGeom prst="rect">
            <a:avLst/>
          </a:prstGeom>
        </p:spPr>
      </p:pic>
      <p:sp>
        <p:nvSpPr>
          <p:cNvPr id="22" name="Rectángulo 21"/>
          <p:cNvSpPr/>
          <p:nvPr userDrawn="1"/>
        </p:nvSpPr>
        <p:spPr>
          <a:xfrm>
            <a:off x="11110824" y="0"/>
            <a:ext cx="1081176" cy="63835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25" y="175427"/>
            <a:ext cx="521986" cy="304058"/>
          </a:xfrm>
          <a:prstGeom prst="rect">
            <a:avLst/>
          </a:prstGeom>
        </p:spPr>
      </p:pic>
      <p:sp>
        <p:nvSpPr>
          <p:cNvPr id="18" name="Rectángulo 17"/>
          <p:cNvSpPr/>
          <p:nvPr userDrawn="1"/>
        </p:nvSpPr>
        <p:spPr>
          <a:xfrm>
            <a:off x="7033296" y="3312543"/>
            <a:ext cx="1081176" cy="3545457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/>
          <p:cNvSpPr/>
          <p:nvPr userDrawn="1"/>
        </p:nvSpPr>
        <p:spPr>
          <a:xfrm>
            <a:off x="0" y="-1"/>
            <a:ext cx="422694" cy="1598704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430" y="5633008"/>
            <a:ext cx="412907" cy="78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2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4"/>
          <a:stretch/>
        </p:blipFill>
        <p:spPr>
          <a:xfrm>
            <a:off x="4618007" y="-1"/>
            <a:ext cx="7572375" cy="688830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95026" y="1598703"/>
            <a:ext cx="5858774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95026" y="3481898"/>
            <a:ext cx="5858774" cy="24875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56" y="5969481"/>
            <a:ext cx="2719876" cy="452179"/>
          </a:xfrm>
          <a:prstGeom prst="rect">
            <a:avLst/>
          </a:prstGeom>
        </p:spPr>
      </p:pic>
      <p:sp>
        <p:nvSpPr>
          <p:cNvPr id="22" name="Rectángulo 21"/>
          <p:cNvSpPr/>
          <p:nvPr userDrawn="1"/>
        </p:nvSpPr>
        <p:spPr>
          <a:xfrm>
            <a:off x="11110824" y="0"/>
            <a:ext cx="1081176" cy="63835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25" y="175427"/>
            <a:ext cx="521986" cy="304058"/>
          </a:xfrm>
          <a:prstGeom prst="rect">
            <a:avLst/>
          </a:prstGeom>
        </p:spPr>
      </p:pic>
      <p:sp>
        <p:nvSpPr>
          <p:cNvPr id="18" name="Rectángulo 17"/>
          <p:cNvSpPr/>
          <p:nvPr userDrawn="1"/>
        </p:nvSpPr>
        <p:spPr>
          <a:xfrm>
            <a:off x="4077420" y="-2"/>
            <a:ext cx="1081176" cy="3545457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/>
          <p:cNvSpPr/>
          <p:nvPr userDrawn="1"/>
        </p:nvSpPr>
        <p:spPr>
          <a:xfrm>
            <a:off x="0" y="5263273"/>
            <a:ext cx="422694" cy="1598704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554" y="479485"/>
            <a:ext cx="412907" cy="78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1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47"/>
          <a:stretch/>
        </p:blipFill>
        <p:spPr>
          <a:xfrm>
            <a:off x="3766" y="0"/>
            <a:ext cx="754956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7455" y="1598703"/>
            <a:ext cx="5858774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7455" y="3481898"/>
            <a:ext cx="5858774" cy="24875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549" y="5969481"/>
            <a:ext cx="2719876" cy="452179"/>
          </a:xfrm>
          <a:prstGeom prst="rect">
            <a:avLst/>
          </a:prstGeom>
        </p:spPr>
      </p:pic>
      <p:sp>
        <p:nvSpPr>
          <p:cNvPr id="22" name="Rectángulo 21"/>
          <p:cNvSpPr/>
          <p:nvPr userDrawn="1"/>
        </p:nvSpPr>
        <p:spPr>
          <a:xfrm>
            <a:off x="11110824" y="0"/>
            <a:ext cx="1081176" cy="63835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25" y="175427"/>
            <a:ext cx="521986" cy="304058"/>
          </a:xfrm>
          <a:prstGeom prst="rect">
            <a:avLst/>
          </a:prstGeom>
        </p:spPr>
      </p:pic>
      <p:sp>
        <p:nvSpPr>
          <p:cNvPr id="18" name="Rectángulo 17"/>
          <p:cNvSpPr/>
          <p:nvPr userDrawn="1"/>
        </p:nvSpPr>
        <p:spPr>
          <a:xfrm>
            <a:off x="7033296" y="0"/>
            <a:ext cx="1081176" cy="3545457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/>
          <p:cNvSpPr/>
          <p:nvPr userDrawn="1"/>
        </p:nvSpPr>
        <p:spPr>
          <a:xfrm>
            <a:off x="0" y="5259296"/>
            <a:ext cx="422694" cy="1598704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430" y="510715"/>
            <a:ext cx="412907" cy="78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96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 r="85703"/>
          <a:stretch/>
        </p:blipFill>
        <p:spPr>
          <a:xfrm>
            <a:off x="-9525" y="1"/>
            <a:ext cx="1362075" cy="68580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33" y="4686262"/>
            <a:ext cx="2719876" cy="452179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11110824" y="0"/>
            <a:ext cx="1081176" cy="63835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25" y="175427"/>
            <a:ext cx="521986" cy="30405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8" y="4518026"/>
            <a:ext cx="412907" cy="78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3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29"/>
          <a:stretch/>
        </p:blipFill>
        <p:spPr>
          <a:xfrm>
            <a:off x="3765" y="0"/>
            <a:ext cx="11092859" cy="6858000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09850" y="1524001"/>
            <a:ext cx="6724650" cy="40091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ángulo 21"/>
          <p:cNvSpPr/>
          <p:nvPr userDrawn="1"/>
        </p:nvSpPr>
        <p:spPr>
          <a:xfrm>
            <a:off x="11110824" y="0"/>
            <a:ext cx="1081176" cy="63835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25" y="175427"/>
            <a:ext cx="521986" cy="304058"/>
          </a:xfrm>
          <a:prstGeom prst="rect">
            <a:avLst/>
          </a:prstGeom>
        </p:spPr>
      </p:pic>
      <p:sp>
        <p:nvSpPr>
          <p:cNvPr id="18" name="Rectángulo 17"/>
          <p:cNvSpPr/>
          <p:nvPr userDrawn="1"/>
        </p:nvSpPr>
        <p:spPr>
          <a:xfrm>
            <a:off x="-10435" y="5257800"/>
            <a:ext cx="486685" cy="1600200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/>
          <p:cNvSpPr/>
          <p:nvPr userDrawn="1"/>
        </p:nvSpPr>
        <p:spPr>
          <a:xfrm>
            <a:off x="0" y="-1"/>
            <a:ext cx="2847975" cy="71018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964" y="5406918"/>
            <a:ext cx="412907" cy="78865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987" y="1273545"/>
            <a:ext cx="976668" cy="284405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239" y="5970025"/>
            <a:ext cx="2717411" cy="45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1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29"/>
          <a:stretch/>
        </p:blipFill>
        <p:spPr>
          <a:xfrm>
            <a:off x="3765" y="0"/>
            <a:ext cx="11092859" cy="6858000"/>
          </a:xfrm>
          <a:prstGeom prst="rect">
            <a:avLst/>
          </a:prstGeom>
        </p:spPr>
      </p:pic>
      <p:sp>
        <p:nvSpPr>
          <p:cNvPr id="22" name="Rectángulo 21"/>
          <p:cNvSpPr/>
          <p:nvPr userDrawn="1"/>
        </p:nvSpPr>
        <p:spPr>
          <a:xfrm>
            <a:off x="11110824" y="0"/>
            <a:ext cx="1081176" cy="63835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25" y="175427"/>
            <a:ext cx="521986" cy="304058"/>
          </a:xfrm>
          <a:prstGeom prst="rect">
            <a:avLst/>
          </a:prstGeom>
        </p:spPr>
      </p:pic>
      <p:sp>
        <p:nvSpPr>
          <p:cNvPr id="18" name="Rectángulo 17"/>
          <p:cNvSpPr/>
          <p:nvPr userDrawn="1"/>
        </p:nvSpPr>
        <p:spPr>
          <a:xfrm>
            <a:off x="-10435" y="5257800"/>
            <a:ext cx="486685" cy="1600200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/>
          <p:cNvSpPr/>
          <p:nvPr userDrawn="1"/>
        </p:nvSpPr>
        <p:spPr>
          <a:xfrm>
            <a:off x="0" y="-1"/>
            <a:ext cx="2847975" cy="710185"/>
          </a:xfrm>
          <a:prstGeom prst="rect">
            <a:avLst/>
          </a:prstGeom>
          <a:solidFill>
            <a:srgbClr val="003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964" y="5406918"/>
            <a:ext cx="412907" cy="78865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239" y="5970025"/>
            <a:ext cx="2717411" cy="45109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007455" y="1598703"/>
            <a:ext cx="465039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Marcador de contenido 2"/>
          <p:cNvSpPr>
            <a:spLocks noGrp="1"/>
          </p:cNvSpPr>
          <p:nvPr>
            <p:ph idx="1"/>
          </p:nvPr>
        </p:nvSpPr>
        <p:spPr>
          <a:xfrm>
            <a:off x="1007455" y="3481898"/>
            <a:ext cx="4650395" cy="24875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Marcador de gráfico 8"/>
          <p:cNvSpPr>
            <a:spLocks noGrp="1"/>
          </p:cNvSpPr>
          <p:nvPr>
            <p:ph type="chart" sz="quarter" idx="10"/>
          </p:nvPr>
        </p:nvSpPr>
        <p:spPr>
          <a:xfrm>
            <a:off x="5981700" y="1598613"/>
            <a:ext cx="4552950" cy="38782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400722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84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23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Montserrat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83919" y="67008"/>
            <a:ext cx="9872750" cy="3361992"/>
          </a:xfrm>
        </p:spPr>
        <p:txBody>
          <a:bodyPr/>
          <a:lstStyle/>
          <a:p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Título Principal:</a:t>
            </a:r>
            <a:br>
              <a:rPr lang="es-MX" sz="4000" b="1" dirty="0"/>
            </a:br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Especificación Formal de un Sistema de Votación Electrónica para el Contexto Peruano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7047" y="4272742"/>
            <a:ext cx="6531034" cy="2793076"/>
          </a:xfrm>
        </p:spPr>
        <p:txBody>
          <a:bodyPr/>
          <a:lstStyle/>
          <a:p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Autores: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Davis Yovanny Arapa </a:t>
            </a:r>
            <a:r>
              <a:rPr 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Chua</a:t>
            </a: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Danny Quispe </a:t>
            </a:r>
            <a:r>
              <a:rPr 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Cjuiro</a:t>
            </a: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Luis Gonzalo </a:t>
            </a:r>
            <a:r>
              <a:rPr 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Basurco</a:t>
            </a: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Monroy,</a:t>
            </a:r>
          </a:p>
          <a:p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Esther Mariana Chunga Pacheco,</a:t>
            </a:r>
          </a:p>
          <a:p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Carlos Adrian Vizarreta Checya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DC56C-D6EA-15E5-E50C-77726A83A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082" y="3429000"/>
            <a:ext cx="1464773" cy="231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9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BA0F-5C34-C269-5A49-70FF1714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080" y="1099939"/>
            <a:ext cx="5858774" cy="845239"/>
          </a:xfrm>
        </p:spPr>
        <p:txBody>
          <a:bodyPr/>
          <a:lstStyle/>
          <a:p>
            <a:r>
              <a:rPr lang="es-PE" sz="4000" dirty="0"/>
              <a:t>Introducción: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917A59-4454-6DB2-5BE2-95A401B90A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70583" y="2200195"/>
            <a:ext cx="648254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Contexto Actual: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modernización electoral en el Perú exige precisión, transparencia y seguridad en el manejo del padrón y la identidad.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Desafío: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sistemas tradicionales pueden contener ambigüedades y fallas lógicas que comprometen la legitimidad.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Solución Propuesta: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métodos formales para modelar rigurosamente el registro y verificación de votantes antes de la implementación física.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67DA5-19FA-4D2F-3A66-DB81A25F5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75" y="997706"/>
            <a:ext cx="3875430" cy="217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4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0AC65-2910-0FB0-91E2-1F929522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026" y="1598704"/>
            <a:ext cx="6300734" cy="745486"/>
          </a:xfrm>
        </p:spPr>
        <p:txBody>
          <a:bodyPr/>
          <a:lstStyle/>
          <a:p>
            <a:r>
              <a:rPr lang="es-PE" sz="3200" dirty="0">
                <a:latin typeface="Arial" panose="020B0604020202020204" pitchFamily="34" charset="0"/>
                <a:cs typeface="Arial" panose="020B0604020202020204" pitchFamily="34" charset="0"/>
              </a:rPr>
              <a:t>Planteamiento del Problema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DD7D01-458A-407B-4F40-542C29BAEC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6562" y="2407363"/>
            <a:ext cx="669766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Necesidad Crítica: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requieren mecanismos precisos que garanticen autenticidad   y ausencia de duplicaciones en el padrón.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Riesgos sin Formalización: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Ambigüedades en el lenguaje natural.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Errores lógicos (registros duplicados, estados inconsistentes).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Propuesta: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Especificación en 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VDM++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analizar la validez del sistema de forma matemática y lógica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C8357-9CAC-0C26-D3F7-3F6A1685B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71" y="820073"/>
            <a:ext cx="3693430" cy="238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3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9270-21E7-237C-FD91-6AE16100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66" y="1123952"/>
            <a:ext cx="5858774" cy="770424"/>
          </a:xfrm>
        </p:spPr>
        <p:txBody>
          <a:bodyPr/>
          <a:lstStyle/>
          <a:p>
            <a:r>
              <a:rPr lang="es-PE" sz="3200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br>
              <a:rPr lang="es-PE" b="1" dirty="0"/>
            </a:br>
            <a:endParaRPr lang="es-P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1CA55A-CF98-4EB2-AB03-ED2440D234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6766" y="1889590"/>
            <a:ext cx="68084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PE" sz="1800" b="1" dirty="0"/>
              <a:t>Objetivo Principal: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PE" altLang="es-P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1800" dirty="0"/>
              <a:t>Diseñar un modelo matemático para el registro de votantes que garantice un sistema </a:t>
            </a:r>
            <a:r>
              <a:rPr lang="es-MX" sz="1800" b="1" dirty="0"/>
              <a:t>seguro, exacto y sin fallos</a:t>
            </a:r>
            <a:r>
              <a:rPr lang="es-MX" sz="1800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MX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PE" sz="1800" b="1" dirty="0"/>
              <a:t>Objetivos Específicos: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P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1800" b="1" dirty="0"/>
              <a:t>Representar la realidad:</a:t>
            </a:r>
            <a:r>
              <a:rPr lang="es-MX" sz="1800" dirty="0"/>
              <a:t> Definir claramente los elementos del sistema (el Ciudadano y el Padrón Electoral).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MX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1800" b="1" dirty="0"/>
              <a:t>Seguridad:</a:t>
            </a:r>
            <a:r>
              <a:rPr lang="es-MX" sz="1800" dirty="0"/>
              <a:t> Establecer reglas estrictas para identificar correctamente a las personas (autenticación).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MX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PE" sz="1800" b="1" dirty="0"/>
              <a:t>Cero Errores:</a:t>
            </a:r>
            <a:r>
              <a:rPr lang="es-PE" sz="1800" dirty="0"/>
              <a:t> Usar lógica matemática para impedir problemas graves como votos duplicados o registros falsos.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Entidades electorales eficientes">
            <a:extLst>
              <a:ext uri="{FF2B5EF4-FFF2-40B4-BE49-F238E27FC236}">
                <a16:creationId xmlns:a16="http://schemas.microsoft.com/office/drawing/2014/main" id="{BDCCFCF3-41F0-C90B-F66E-3DE9A8BD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94" y="889723"/>
            <a:ext cx="3658293" cy="2440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506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EA84-6963-9484-3E3F-58D8A427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019" y="1515575"/>
            <a:ext cx="5858774" cy="1325563"/>
          </a:xfrm>
        </p:spPr>
        <p:txBody>
          <a:bodyPr/>
          <a:lstStyle/>
          <a:p>
            <a:r>
              <a:rPr lang="es-PE" dirty="0"/>
              <a:t>Metodología (Herramientas)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2B7A1C-E157-8246-6238-1754B24928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61709" y="2924266"/>
            <a:ext cx="63592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Especificación Formal: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Representación matemática para eliminar interpretaciones subjetivas y permitir análisis sistemáticos.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 VDM++: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Metodología orientada a objetos que permite definir tipos estructurados, pre/postcondiciones e invariantes.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 VDM </a:t>
            </a:r>
            <a:r>
              <a:rPr kumimoji="0" lang="es-PE" altLang="es-P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Toolbox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Utilizada para compilación, chequeo de tipos, pruebas dinámicas y análisis de cobertura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FD23D-3F7A-B66D-A749-1F22A6F33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872" y="1680586"/>
            <a:ext cx="1660961" cy="151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4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AFE11-0738-D854-F252-864FA1DA0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265" y="1482324"/>
            <a:ext cx="6724683" cy="1325563"/>
          </a:xfrm>
        </p:spPr>
        <p:txBody>
          <a:bodyPr/>
          <a:lstStyle/>
          <a:p>
            <a:r>
              <a:rPr lang="es-PE" dirty="0"/>
              <a:t>Metodología (Modelo del Sistema)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41E538-AEE7-7016-AE9C-4F8525E338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6771" y="2792733"/>
            <a:ext cx="65171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 Ciudadano: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Estructura básica (DNI, nombre, huella, estado) con invariantes de validez (ej. longitud de DNI).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 Registro Electoral: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Gestiona el padrón y evita duplicaciones mediante mapas de asociación (DNI -&gt; Ciudadano).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 Validador Identidad: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 la autenticación por huella o DNI y verifica que el estado sea "Activo" antes de permitir el voto.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C9C3F-4778-BA85-ED02-2A85CBCEA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97" y="984307"/>
            <a:ext cx="3169918" cy="361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98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3D4F-B19E-A182-A552-C81ED66D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899" y="1149815"/>
            <a:ext cx="5858774" cy="1325563"/>
          </a:xfrm>
        </p:spPr>
        <p:txBody>
          <a:bodyPr/>
          <a:lstStyle/>
          <a:p>
            <a:r>
              <a:rPr lang="es-PE" dirty="0"/>
              <a:t>Principales Requerimientos Modelados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B5BB5F-BF1D-7C0F-CDAF-061D036073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4338" y="2574466"/>
            <a:ext cx="602710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RF1 Autenticación Segura: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Validación mediante DNI y biometría.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RF2 Verificación de Estado: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Confirmación de que el ciudadano está habilitado (Activo).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RF3 Prevención de Duplicados: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 estricto para evitar doble registro o voto.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RF4 Auditoría: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Trazabilidad de cada operación para detectar inconsistencias</a:t>
            </a:r>
          </a:p>
        </p:txBody>
      </p:sp>
      <p:pic>
        <p:nvPicPr>
          <p:cNvPr id="6147" name="Picture 3" descr="Huella digital será la nueva Clave Sol a partir de diciembre: ¿cómo  funcionará? | TU-DINERO | GESTIÓN">
            <a:extLst>
              <a:ext uri="{FF2B5EF4-FFF2-40B4-BE49-F238E27FC236}">
                <a16:creationId xmlns:a16="http://schemas.microsoft.com/office/drawing/2014/main" id="{4066A5D8-DB75-172D-23A7-B47AF4BA9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515388"/>
            <a:ext cx="3671454" cy="275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33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D454-A6C2-F6E0-30E6-2B004134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026" y="1221971"/>
            <a:ext cx="6357851" cy="1702295"/>
          </a:xfrm>
        </p:spPr>
        <p:txBody>
          <a:bodyPr/>
          <a:lstStyle/>
          <a:p>
            <a:r>
              <a:rPr lang="es-PE" sz="4000" dirty="0"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1FC061-2D8A-57C7-CCA8-9843A10E75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5026" y="2807787"/>
            <a:ext cx="624285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Consistencia: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modelo formal estructura operaciones bajo condiciones explícitas, eliminando ambigüedades.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Confiabilidad: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cobertura total (100%) demuestra que todas las reglas y restricciones funcionan correctamente.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especificación es apta para servir como base segura en la implementación real de un sistema de votación electrónica en Perú.</a:t>
            </a:r>
          </a:p>
        </p:txBody>
      </p:sp>
      <p:pic>
        <p:nvPicPr>
          <p:cNvPr id="7171" name="Picture 3" descr="Perú Bandera Huella Dactilar - Imagen gratis en Pixabay">
            <a:extLst>
              <a:ext uri="{FF2B5EF4-FFF2-40B4-BE49-F238E27FC236}">
                <a16:creationId xmlns:a16="http://schemas.microsoft.com/office/drawing/2014/main" id="{F6FB12A2-6944-D67C-AA2C-D40A5DBFC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632" y="1328392"/>
            <a:ext cx="22479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0437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.potx" id="{ADC734C5-25EC-4299-B3A6-8FD8C6166BA0}" vid="{3C683A0A-43F8-4793-A259-B278C0D2BB1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presentacion_ulasalle</Template>
  <TotalTime>53</TotalTime>
  <Words>481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Montserrat</vt:lpstr>
      <vt:lpstr>Myriad Pro</vt:lpstr>
      <vt:lpstr>Tema de Office</vt:lpstr>
      <vt:lpstr>Título Principal: Especificación Formal de un Sistema de Votación Electrónica para el Contexto Peruano</vt:lpstr>
      <vt:lpstr>Introducción:</vt:lpstr>
      <vt:lpstr>Planteamiento del Problema</vt:lpstr>
      <vt:lpstr>Objetivos </vt:lpstr>
      <vt:lpstr>Metodología (Herramientas)</vt:lpstr>
      <vt:lpstr>Metodología (Modelo del Sistema)</vt:lpstr>
      <vt:lpstr>Principales Requerimientos Modelados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2025-11-26T03:35:17Z</dcterms:created>
  <dcterms:modified xsi:type="dcterms:W3CDTF">2025-11-26T04:29:11Z</dcterms:modified>
</cp:coreProperties>
</file>